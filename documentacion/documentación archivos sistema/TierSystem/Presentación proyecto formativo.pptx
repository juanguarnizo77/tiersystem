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6858000" cx="12192000"/>
  <p:notesSz cx="6858000" cy="9144000"/>
  <p:embeddedFontLst>
    <p:embeddedFont>
      <p:font typeface="Work Sans Medium"/>
      <p:regular r:id="rId13"/>
      <p:bold r:id="rId14"/>
      <p:italic r:id="rId15"/>
      <p:boldItalic r:id="rId16"/>
    </p:embeddedFont>
    <p:embeddedFont>
      <p:font typeface="Work Sans"/>
      <p:bold r:id="rId17"/>
      <p:boldItalic r:id="rId18"/>
    </p:embeddedFont>
    <p:embeddedFont>
      <p:font typeface="Work Sans Light"/>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95">
          <p15:clr>
            <a:srgbClr val="A4A3A4"/>
          </p15:clr>
        </p15:guide>
        <p15:guide id="2" pos="3840">
          <p15:clr>
            <a:srgbClr val="A4A3A4"/>
          </p15:clr>
        </p15:guide>
        <p15:guide id="3" orient="horz" pos="187">
          <p15:clr>
            <a:srgbClr val="A4A3A4"/>
          </p15:clr>
        </p15:guide>
      </p15:sldGuideLst>
    </p:ext>
    <p:ext uri="GoogleSlidesCustomDataVersion2">
      <go:slidesCustomData xmlns:go="http://customooxmlschemas.google.com/" r:id="rId23" roundtripDataSignature="AMtx7mhEoZTsChAFT4qOxpqslQJE0YEB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95" orient="horz"/>
        <p:guide pos="3840"/>
        <p:guide pos="187"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WorkSansLight-bold.fntdata"/><Relationship Id="rId11" Type="http://schemas.openxmlformats.org/officeDocument/2006/relationships/slide" Target="slides/slide6.xml"/><Relationship Id="rId22" Type="http://schemas.openxmlformats.org/officeDocument/2006/relationships/font" Target="fonts/WorkSansLight-boldItalic.fntdata"/><Relationship Id="rId10" Type="http://schemas.openxmlformats.org/officeDocument/2006/relationships/slide" Target="slides/slide5.xml"/><Relationship Id="rId21" Type="http://schemas.openxmlformats.org/officeDocument/2006/relationships/font" Target="fonts/WorkSansLight-italic.fntdata"/><Relationship Id="rId13" Type="http://schemas.openxmlformats.org/officeDocument/2006/relationships/font" Target="fonts/WorkSansMedium-regular.fntdata"/><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WorkSansMedium-italic.fntdata"/><Relationship Id="rId14" Type="http://schemas.openxmlformats.org/officeDocument/2006/relationships/font" Target="fonts/WorkSansMedium-bold.fntdata"/><Relationship Id="rId17" Type="http://schemas.openxmlformats.org/officeDocument/2006/relationships/font" Target="fonts/WorkSans-bold.fntdata"/><Relationship Id="rId16" Type="http://schemas.openxmlformats.org/officeDocument/2006/relationships/font" Target="fonts/WorkSansMedium-boldItalic.fntdata"/><Relationship Id="rId5" Type="http://schemas.openxmlformats.org/officeDocument/2006/relationships/notesMaster" Target="notesMasters/notesMaster1.xml"/><Relationship Id="rId19" Type="http://schemas.openxmlformats.org/officeDocument/2006/relationships/font" Target="fonts/WorkSansLight-regular.fntdata"/><Relationship Id="rId6" Type="http://schemas.openxmlformats.org/officeDocument/2006/relationships/slide" Target="slides/slide1.xml"/><Relationship Id="rId18" Type="http://schemas.openxmlformats.org/officeDocument/2006/relationships/font" Target="fonts/WorkSans-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CO"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5" name="Shape 15"/>
        <p:cNvGrpSpPr/>
        <p:nvPr/>
      </p:nvGrpSpPr>
      <p:grpSpPr>
        <a:xfrm>
          <a:off x="0" y="0"/>
          <a:ext cx="0" cy="0"/>
          <a:chOff x="0" y="0"/>
          <a:chExt cx="0" cy="0"/>
        </a:xfrm>
      </p:grpSpPr>
      <p:sp>
        <p:nvSpPr>
          <p:cNvPr id="16" name="Google Shape;1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9" name="Shape 19"/>
        <p:cNvGrpSpPr/>
        <p:nvPr/>
      </p:nvGrpSpPr>
      <p:grpSpPr>
        <a:xfrm>
          <a:off x="0" y="0"/>
          <a:ext cx="0" cy="0"/>
          <a:chOff x="0" y="0"/>
          <a:chExt cx="0" cy="0"/>
        </a:xfrm>
      </p:grpSpPr>
      <p:sp>
        <p:nvSpPr>
          <p:cNvPr id="20" name="Google Shape;20;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5" name="Shape 25"/>
        <p:cNvGrpSpPr/>
        <p:nvPr/>
      </p:nvGrpSpPr>
      <p:grpSpPr>
        <a:xfrm>
          <a:off x="0" y="0"/>
          <a:ext cx="0" cy="0"/>
          <a:chOff x="0" y="0"/>
          <a:chExt cx="0" cy="0"/>
        </a:xfrm>
      </p:grpSpPr>
      <p:sp>
        <p:nvSpPr>
          <p:cNvPr id="26" name="Google Shape;2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1" name="Shape 31"/>
        <p:cNvGrpSpPr/>
        <p:nvPr/>
      </p:nvGrpSpPr>
      <p:grpSpPr>
        <a:xfrm>
          <a:off x="0" y="0"/>
          <a:ext cx="0" cy="0"/>
          <a:chOff x="0" y="0"/>
          <a:chExt cx="0" cy="0"/>
        </a:xfrm>
      </p:grpSpPr>
      <p:sp>
        <p:nvSpPr>
          <p:cNvPr id="32" name="Google Shape;32;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7" name="Shape 37"/>
        <p:cNvGrpSpPr/>
        <p:nvPr/>
      </p:nvGrpSpPr>
      <p:grpSpPr>
        <a:xfrm>
          <a:off x="0" y="0"/>
          <a:ext cx="0" cy="0"/>
          <a:chOff x="0" y="0"/>
          <a:chExt cx="0" cy="0"/>
        </a:xfrm>
      </p:grpSpPr>
      <p:sp>
        <p:nvSpPr>
          <p:cNvPr id="38" name="Google Shape;3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4" name="Shape 44"/>
        <p:cNvGrpSpPr/>
        <p:nvPr/>
      </p:nvGrpSpPr>
      <p:grpSpPr>
        <a:xfrm>
          <a:off x="0" y="0"/>
          <a:ext cx="0" cy="0"/>
          <a:chOff x="0" y="0"/>
          <a:chExt cx="0" cy="0"/>
        </a:xfrm>
      </p:grpSpPr>
      <p:sp>
        <p:nvSpPr>
          <p:cNvPr id="45" name="Google Shape;45;p1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1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1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3" name="Shape 53"/>
        <p:cNvGrpSpPr/>
        <p:nvPr/>
      </p:nvGrpSpPr>
      <p:grpSpPr>
        <a:xfrm>
          <a:off x="0" y="0"/>
          <a:ext cx="0" cy="0"/>
          <a:chOff x="0" y="0"/>
          <a:chExt cx="0" cy="0"/>
        </a:xfrm>
      </p:grpSpPr>
      <p:sp>
        <p:nvSpPr>
          <p:cNvPr id="54" name="Google Shape;54;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7"/>
          <p:cNvSpPr/>
          <p:nvPr>
            <p:ph idx="2" type="pic"/>
          </p:nvPr>
        </p:nvSpPr>
        <p:spPr>
          <a:xfrm>
            <a:off x="5183188" y="987425"/>
            <a:ext cx="6172200" cy="4873625"/>
          </a:xfrm>
          <a:prstGeom prst="rect">
            <a:avLst/>
          </a:prstGeom>
          <a:noFill/>
          <a:ln>
            <a:noFill/>
          </a:ln>
        </p:spPr>
      </p:sp>
      <p:sp>
        <p:nvSpPr>
          <p:cNvPr id="68" name="Google Shape;68;p1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1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84" name="Shape 84"/>
        <p:cNvGrpSpPr/>
        <p:nvPr/>
      </p:nvGrpSpPr>
      <p:grpSpPr>
        <a:xfrm>
          <a:off x="0" y="0"/>
          <a:ext cx="0" cy="0"/>
          <a:chOff x="0" y="0"/>
          <a:chExt cx="0" cy="0"/>
        </a:xfrm>
      </p:grpSpPr>
      <p:sp>
        <p:nvSpPr>
          <p:cNvPr id="85" name="Google Shape;85;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O"/>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 name="Shape 92"/>
        <p:cNvGrpSpPr/>
        <p:nvPr/>
      </p:nvGrpSpPr>
      <p:grpSpPr>
        <a:xfrm>
          <a:off x="0" y="0"/>
          <a:ext cx="0" cy="0"/>
          <a:chOff x="0" y="0"/>
          <a:chExt cx="0" cy="0"/>
        </a:xfrm>
      </p:grpSpPr>
      <p:sp>
        <p:nvSpPr>
          <p:cNvPr id="93" name="Google Shape;93;p1"/>
          <p:cNvSpPr txBox="1"/>
          <p:nvPr/>
        </p:nvSpPr>
        <p:spPr>
          <a:xfrm>
            <a:off x="907623" y="1552662"/>
            <a:ext cx="6840713"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CO" sz="6600" u="none" cap="none" strike="noStrike">
                <a:solidFill>
                  <a:srgbClr val="3F3F3F"/>
                </a:solidFill>
                <a:latin typeface="Work Sans"/>
                <a:ea typeface="Work Sans"/>
                <a:cs typeface="Work Sans"/>
                <a:sym typeface="Work Sans"/>
              </a:rPr>
              <a:t>TierSystem-Sistema de análisis de suelo</a:t>
            </a:r>
            <a:endParaRPr/>
          </a:p>
        </p:txBody>
      </p:sp>
      <p:sp>
        <p:nvSpPr>
          <p:cNvPr id="94" name="Google Shape;94;p1"/>
          <p:cNvSpPr/>
          <p:nvPr/>
        </p:nvSpPr>
        <p:spPr>
          <a:xfrm>
            <a:off x="9105900" y="4915707"/>
            <a:ext cx="1945270" cy="829034"/>
          </a:xfrm>
          <a:prstGeom prst="rect">
            <a:avLst/>
          </a:prstGeom>
          <a:noFill/>
          <a:ln cap="flat" cmpd="sng" w="9525">
            <a:solidFill>
              <a:schemeClr val="dk1"/>
            </a:solidFill>
            <a:prstDash val="lg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5" name="Google Shape;95;p1"/>
          <p:cNvSpPr txBox="1"/>
          <p:nvPr/>
        </p:nvSpPr>
        <p:spPr>
          <a:xfrm>
            <a:off x="9105900" y="4915707"/>
            <a:ext cx="194527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CO" sz="1600" u="none" cap="none" strike="noStrike">
                <a:solidFill>
                  <a:schemeClr val="dk1"/>
                </a:solidFill>
                <a:latin typeface="Work Sans Medium"/>
                <a:ea typeface="Work Sans Medium"/>
                <a:cs typeface="Work Sans Medium"/>
                <a:sym typeface="Work Sans Medium"/>
              </a:rPr>
              <a:t>Marca externa</a:t>
            </a:r>
            <a:endParaRPr/>
          </a:p>
        </p:txBody>
      </p:sp>
      <p:sp>
        <p:nvSpPr>
          <p:cNvPr id="96" name="Google Shape;96;p1"/>
          <p:cNvSpPr txBox="1"/>
          <p:nvPr/>
        </p:nvSpPr>
        <p:spPr>
          <a:xfrm>
            <a:off x="9105900" y="5190743"/>
            <a:ext cx="194527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CO" sz="1000" u="none" cap="none" strike="noStrike">
                <a:solidFill>
                  <a:srgbClr val="3F3F3F"/>
                </a:solidFill>
                <a:latin typeface="Calibri"/>
                <a:ea typeface="Calibri"/>
                <a:cs typeface="Calibri"/>
                <a:sym typeface="Calibri"/>
              </a:rPr>
              <a:t>NOTA: </a:t>
            </a:r>
            <a:r>
              <a:rPr b="0" i="0" lang="es-CO" sz="1000" u="none" cap="none" strike="noStrike">
                <a:solidFill>
                  <a:srgbClr val="3F3F3F"/>
                </a:solidFill>
                <a:latin typeface="Calibri"/>
                <a:ea typeface="Calibri"/>
                <a:cs typeface="Calibri"/>
                <a:sym typeface="Calibri"/>
              </a:rPr>
              <a:t>El tamaño del logo de la marca externa no debe superar el tamaño del logo SENA.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2"/>
          <p:cNvSpPr txBox="1"/>
          <p:nvPr/>
        </p:nvSpPr>
        <p:spPr>
          <a:xfrm>
            <a:off x="716983" y="1629334"/>
            <a:ext cx="10962807"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CO" sz="3600">
                <a:solidFill>
                  <a:srgbClr val="3F3F3F"/>
                </a:solidFill>
                <a:latin typeface="Work Sans"/>
                <a:ea typeface="Work Sans"/>
                <a:cs typeface="Work Sans"/>
                <a:sym typeface="Work Sans"/>
              </a:rPr>
              <a:t>TierSystem-Sistema de análisis de suelo</a:t>
            </a:r>
            <a:endParaRPr/>
          </a:p>
        </p:txBody>
      </p:sp>
      <p:cxnSp>
        <p:nvCxnSpPr>
          <p:cNvPr id="102" name="Google Shape;102;p2"/>
          <p:cNvCxnSpPr/>
          <p:nvPr/>
        </p:nvCxnSpPr>
        <p:spPr>
          <a:xfrm>
            <a:off x="4049091" y="2275665"/>
            <a:ext cx="4252454" cy="0"/>
          </a:xfrm>
          <a:prstGeom prst="straightConnector1">
            <a:avLst/>
          </a:prstGeom>
          <a:noFill/>
          <a:ln cap="flat" cmpd="sng" w="12700">
            <a:solidFill>
              <a:srgbClr val="38AA00"/>
            </a:solidFill>
            <a:prstDash val="solid"/>
            <a:miter lim="800000"/>
            <a:headEnd len="sm" w="sm" type="none"/>
            <a:tailEnd len="sm" w="sm" type="none"/>
          </a:ln>
        </p:spPr>
      </p:cxnSp>
      <p:sp>
        <p:nvSpPr>
          <p:cNvPr id="103" name="Google Shape;103;p2"/>
          <p:cNvSpPr txBox="1"/>
          <p:nvPr/>
        </p:nvSpPr>
        <p:spPr>
          <a:xfrm>
            <a:off x="4303286" y="2785209"/>
            <a:ext cx="3854368" cy="181588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CO" sz="1600" u="none" cap="none" strike="noStrike">
                <a:solidFill>
                  <a:srgbClr val="000000"/>
                </a:solidFill>
                <a:latin typeface="Work Sans Light"/>
                <a:ea typeface="Work Sans Light"/>
                <a:cs typeface="Work Sans Light"/>
                <a:sym typeface="Work Sans Light"/>
              </a:rPr>
              <a:t>TierSystem es un sistema que su principal función es la de analizar la tierra o el suelo de un terreo y dependiendo de sus resultados dar unas recomendaciones acerca de que cultivar y que abonos puedes usar para que potencie la producción o calidad de su tierra.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 name="Shape 107"/>
        <p:cNvGrpSpPr/>
        <p:nvPr/>
      </p:nvGrpSpPr>
      <p:grpSpPr>
        <a:xfrm>
          <a:off x="0" y="0"/>
          <a:ext cx="0" cy="0"/>
          <a:chOff x="0" y="0"/>
          <a:chExt cx="0" cy="0"/>
        </a:xfrm>
      </p:grpSpPr>
      <p:sp>
        <p:nvSpPr>
          <p:cNvPr id="108" name="Google Shape;108;p3"/>
          <p:cNvSpPr/>
          <p:nvPr/>
        </p:nvSpPr>
        <p:spPr>
          <a:xfrm>
            <a:off x="959215" y="2616955"/>
            <a:ext cx="5344743" cy="1384995"/>
          </a:xfrm>
          <a:prstGeom prst="rect">
            <a:avLst/>
          </a:prstGeom>
          <a:noFill/>
          <a:ln>
            <a:noFill/>
          </a:ln>
        </p:spPr>
        <p:txBody>
          <a:bodyPr anchorCtr="0" anchor="t" bIns="45700" lIns="91425" spcFirstLastPara="1" rIns="91425" wrap="square" tIns="45700">
            <a:spAutoFit/>
          </a:bodyPr>
          <a:lstStyle/>
          <a:p>
            <a:pPr indent="-177800" lvl="0" marL="0" marR="0" rtl="0" algn="l">
              <a:spcBef>
                <a:spcPts val="0"/>
              </a:spcBef>
              <a:spcAft>
                <a:spcPts val="0"/>
              </a:spcAft>
              <a:buClr>
                <a:schemeClr val="lt1"/>
              </a:buClr>
              <a:buSzPts val="2800"/>
              <a:buFont typeface="Arial"/>
              <a:buChar char="•"/>
            </a:pPr>
            <a:r>
              <a:rPr b="1" lang="es-CO" sz="2800">
                <a:solidFill>
                  <a:schemeClr val="lt1"/>
                </a:solidFill>
                <a:latin typeface="Arial"/>
                <a:ea typeface="Arial"/>
                <a:cs typeface="Arial"/>
                <a:sym typeface="Arial"/>
              </a:rPr>
              <a:t>Problema </a:t>
            </a:r>
            <a:endParaRPr/>
          </a:p>
          <a:p>
            <a:pPr indent="-177800" lvl="0" marL="0" marR="0" rtl="0" algn="l">
              <a:spcBef>
                <a:spcPts val="0"/>
              </a:spcBef>
              <a:spcAft>
                <a:spcPts val="0"/>
              </a:spcAft>
              <a:buClr>
                <a:schemeClr val="lt1"/>
              </a:buClr>
              <a:buSzPts val="2800"/>
              <a:buFont typeface="Arial"/>
              <a:buChar char="•"/>
            </a:pPr>
            <a:r>
              <a:rPr b="1" lang="es-CO" sz="2800">
                <a:solidFill>
                  <a:schemeClr val="lt1"/>
                </a:solidFill>
                <a:latin typeface="Arial"/>
                <a:ea typeface="Arial"/>
                <a:cs typeface="Arial"/>
                <a:sym typeface="Arial"/>
              </a:rPr>
              <a:t>Solución</a:t>
            </a:r>
            <a:endParaRPr b="1" sz="2800">
              <a:solidFill>
                <a:schemeClr val="lt1"/>
              </a:solidFill>
              <a:latin typeface="Arial"/>
              <a:ea typeface="Arial"/>
              <a:cs typeface="Arial"/>
              <a:sym typeface="Arial"/>
            </a:endParaRPr>
          </a:p>
          <a:p>
            <a:pPr indent="-177800" lvl="0" marL="0" marR="0" rtl="0" algn="l">
              <a:spcBef>
                <a:spcPts val="0"/>
              </a:spcBef>
              <a:spcAft>
                <a:spcPts val="0"/>
              </a:spcAft>
              <a:buClr>
                <a:schemeClr val="lt1"/>
              </a:buClr>
              <a:buSzPts val="2800"/>
              <a:buFont typeface="Arial"/>
              <a:buChar char="•"/>
            </a:pPr>
            <a:r>
              <a:rPr b="1" lang="es-CO" sz="2800">
                <a:solidFill>
                  <a:schemeClr val="lt1"/>
                </a:solidFill>
                <a:latin typeface="Arial"/>
                <a:ea typeface="Arial"/>
                <a:cs typeface="Arial"/>
                <a:sym typeface="Arial"/>
              </a:rPr>
              <a:t>Funciones / Módulos</a:t>
            </a:r>
            <a:endParaRPr b="1" sz="2800">
              <a:solidFill>
                <a:schemeClr val="lt1"/>
              </a:solidFill>
              <a:latin typeface="Arial"/>
              <a:ea typeface="Arial"/>
              <a:cs typeface="Arial"/>
              <a:sym typeface="Arial"/>
            </a:endParaRPr>
          </a:p>
        </p:txBody>
      </p:sp>
      <p:sp>
        <p:nvSpPr>
          <p:cNvPr id="109" name="Google Shape;109;p3"/>
          <p:cNvSpPr txBox="1"/>
          <p:nvPr/>
        </p:nvSpPr>
        <p:spPr>
          <a:xfrm>
            <a:off x="705725" y="1253850"/>
            <a:ext cx="50331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6000"/>
              <a:buFont typeface="Work Sans"/>
              <a:buNone/>
            </a:pPr>
            <a:r>
              <a:rPr b="1" lang="es-CO" sz="6000" u="none" cap="none" strike="noStrike">
                <a:solidFill>
                  <a:schemeClr val="lt1"/>
                </a:solidFill>
                <a:latin typeface="Work Sans"/>
                <a:ea typeface="Work Sans"/>
                <a:cs typeface="Work Sans"/>
                <a:sym typeface="Work Sans"/>
              </a:rPr>
              <a:t>CONTENIDO</a:t>
            </a:r>
            <a:endParaRPr/>
          </a:p>
        </p:txBody>
      </p:sp>
      <p:cxnSp>
        <p:nvCxnSpPr>
          <p:cNvPr id="110" name="Google Shape;110;p3"/>
          <p:cNvCxnSpPr/>
          <p:nvPr/>
        </p:nvCxnSpPr>
        <p:spPr>
          <a:xfrm>
            <a:off x="959215" y="2213186"/>
            <a:ext cx="4164876" cy="0"/>
          </a:xfrm>
          <a:prstGeom prst="straightConnector1">
            <a:avLst/>
          </a:prstGeom>
          <a:noFill/>
          <a:ln cap="flat" cmpd="sng" w="12700">
            <a:solidFill>
              <a:schemeClr val="lt1"/>
            </a:solidFill>
            <a:prstDash val="solid"/>
            <a:miter lim="800000"/>
            <a:headEnd len="sm" w="sm" type="none"/>
            <a:tailEnd len="sm" w="sm" type="none"/>
          </a:ln>
        </p:spPr>
      </p:cxnSp>
      <p:pic>
        <p:nvPicPr>
          <p:cNvPr descr="Qué son las Bases de Datos como Servicio (DBaaS): Ventajas | Data Center  Market" id="111" name="Google Shape;111;p3"/>
          <p:cNvPicPr preferRelativeResize="0"/>
          <p:nvPr/>
        </p:nvPicPr>
        <p:blipFill rotWithShape="1">
          <a:blip r:embed="rId4">
            <a:alphaModFix/>
          </a:blip>
          <a:srcRect b="0" l="0" r="0" t="0"/>
          <a:stretch/>
        </p:blipFill>
        <p:spPr>
          <a:xfrm>
            <a:off x="6303958" y="1695293"/>
            <a:ext cx="5033080" cy="3352800"/>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3137"/>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4"/>
          <p:cNvSpPr txBox="1"/>
          <p:nvPr/>
        </p:nvSpPr>
        <p:spPr>
          <a:xfrm>
            <a:off x="457200" y="793734"/>
            <a:ext cx="19812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CO" sz="2800">
                <a:solidFill>
                  <a:srgbClr val="38AA00"/>
                </a:solidFill>
                <a:latin typeface="Work Sans"/>
                <a:ea typeface="Work Sans"/>
                <a:cs typeface="Work Sans"/>
                <a:sym typeface="Work Sans"/>
              </a:rPr>
              <a:t>Problema</a:t>
            </a:r>
            <a:endParaRPr b="1" sz="2800">
              <a:solidFill>
                <a:srgbClr val="38AA00"/>
              </a:solidFill>
              <a:latin typeface="Work Sans"/>
              <a:ea typeface="Work Sans"/>
              <a:cs typeface="Work Sans"/>
              <a:sym typeface="Work Sans"/>
            </a:endParaRPr>
          </a:p>
        </p:txBody>
      </p:sp>
      <p:sp>
        <p:nvSpPr>
          <p:cNvPr id="117" name="Google Shape;117;p4"/>
          <p:cNvSpPr txBox="1"/>
          <p:nvPr/>
        </p:nvSpPr>
        <p:spPr>
          <a:xfrm>
            <a:off x="457200" y="1590361"/>
            <a:ext cx="3721768" cy="329320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CO" sz="1600">
                <a:solidFill>
                  <a:schemeClr val="dk1"/>
                </a:solidFill>
                <a:latin typeface="Calibri"/>
                <a:ea typeface="Calibri"/>
                <a:cs typeface="Calibri"/>
                <a:sym typeface="Calibri"/>
              </a:rPr>
              <a:t>El centro cuenta con módulos agrícolas activos donde instructores y aprendices llevan a cabo prácticas de cultivo como parte de su formación. Sin embargo, una limitación técnica presente en estas prácticas es la ausencia de una herramienta propia que permita realizar análisis de suelo directamente en los terrenos del Centro, de forma rápida, accesible y orientada a la toma de decisiones formativas, o en otros casos de que estas herramientas son tantas las cuales pueden ser abrumador</a:t>
            </a:r>
            <a:endParaRPr/>
          </a:p>
        </p:txBody>
      </p:sp>
      <p:pic>
        <p:nvPicPr>
          <p:cNvPr descr="Cultivos de rápido crecimiento para conseguir cosechas tempranas – El Blog  de Rocalba" id="118" name="Google Shape;118;p4"/>
          <p:cNvPicPr preferRelativeResize="0"/>
          <p:nvPr/>
        </p:nvPicPr>
        <p:blipFill rotWithShape="1">
          <a:blip r:embed="rId4">
            <a:alphaModFix/>
          </a:blip>
          <a:srcRect b="0" l="0" r="0" t="0"/>
          <a:stretch/>
        </p:blipFill>
        <p:spPr>
          <a:xfrm>
            <a:off x="5377721" y="1857249"/>
            <a:ext cx="5511258" cy="2897855"/>
          </a:xfrm>
          <a:prstGeom prst="round2DiagRect">
            <a:avLst>
              <a:gd fmla="val 16667" name="adj1"/>
              <a:gd fmla="val 0" name="adj2"/>
            </a:avLst>
          </a:prstGeom>
          <a:noFill/>
          <a:ln cap="sq" cmpd="sng" w="88900">
            <a:solidFill>
              <a:srgbClr val="FFFFFF"/>
            </a:solidFill>
            <a:prstDash val="solid"/>
            <a:miter lim="800000"/>
            <a:headEnd len="sm" w="sm" type="none"/>
            <a:tailEnd len="sm" w="sm" type="none"/>
          </a:ln>
          <a:effectLst>
            <a:outerShdw blurRad="254000" rotWithShape="0" algn="tl">
              <a:srgbClr val="000000">
                <a:alpha val="43137"/>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2" name="Shape 122"/>
        <p:cNvGrpSpPr/>
        <p:nvPr/>
      </p:nvGrpSpPr>
      <p:grpSpPr>
        <a:xfrm>
          <a:off x="0" y="0"/>
          <a:ext cx="0" cy="0"/>
          <a:chOff x="0" y="0"/>
          <a:chExt cx="0" cy="0"/>
        </a:xfrm>
      </p:grpSpPr>
      <p:sp>
        <p:nvSpPr>
          <p:cNvPr id="123" name="Google Shape;123;p5"/>
          <p:cNvSpPr txBox="1"/>
          <p:nvPr/>
        </p:nvSpPr>
        <p:spPr>
          <a:xfrm>
            <a:off x="790204" y="687430"/>
            <a:ext cx="2723550"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600"/>
              <a:buFont typeface="Work Sans"/>
              <a:buNone/>
            </a:pPr>
            <a:r>
              <a:rPr b="1" lang="es-CO" sz="3600">
                <a:solidFill>
                  <a:srgbClr val="38AA00"/>
                </a:solidFill>
                <a:latin typeface="Work Sans"/>
                <a:ea typeface="Work Sans"/>
                <a:cs typeface="Work Sans"/>
                <a:sym typeface="Work Sans"/>
              </a:rPr>
              <a:t>Solución</a:t>
            </a:r>
            <a:endParaRPr b="1" sz="3600">
              <a:solidFill>
                <a:srgbClr val="38AA00"/>
              </a:solidFill>
              <a:latin typeface="Work Sans"/>
              <a:ea typeface="Work Sans"/>
              <a:cs typeface="Work Sans"/>
              <a:sym typeface="Work Sans"/>
            </a:endParaRPr>
          </a:p>
        </p:txBody>
      </p:sp>
      <p:sp>
        <p:nvSpPr>
          <p:cNvPr id="124" name="Google Shape;124;p5"/>
          <p:cNvSpPr txBox="1"/>
          <p:nvPr/>
        </p:nvSpPr>
        <p:spPr>
          <a:xfrm>
            <a:off x="718486" y="1872801"/>
            <a:ext cx="4618558" cy="286232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s-CO" sz="1800">
                <a:solidFill>
                  <a:schemeClr val="dk1"/>
                </a:solidFill>
                <a:latin typeface="Calibri"/>
                <a:ea typeface="Calibri"/>
                <a:cs typeface="Calibri"/>
                <a:sym typeface="Calibri"/>
              </a:rPr>
              <a:t>TierSystem es un sistema integrado de análisis de suelo desarrollado específicamente para el Centro de Formación Agroindustrial La Angostura. Estará compuesto por un dispositivo sensor portátil multiparamétrico y una plataforma de software instalada en el Centro. El sensor captura los datos del suelo en campo, los transmite al software, y el sistema genera un perfil completo del suelo con recomendaciones de cultivos y abonos.</a:t>
            </a:r>
            <a:endParaRPr/>
          </a:p>
        </p:txBody>
      </p:sp>
      <p:cxnSp>
        <p:nvCxnSpPr>
          <p:cNvPr id="125" name="Google Shape;125;p5"/>
          <p:cNvCxnSpPr/>
          <p:nvPr/>
        </p:nvCxnSpPr>
        <p:spPr>
          <a:xfrm>
            <a:off x="914852" y="1199547"/>
            <a:ext cx="1571674" cy="0"/>
          </a:xfrm>
          <a:prstGeom prst="straightConnector1">
            <a:avLst/>
          </a:prstGeom>
          <a:noFill/>
          <a:ln cap="flat" cmpd="sng" w="12700">
            <a:solidFill>
              <a:srgbClr val="4D4D4C"/>
            </a:solidFill>
            <a:prstDash val="solid"/>
            <a:miter lim="800000"/>
            <a:headEnd len="sm" w="sm" type="none"/>
            <a:tailEnd len="sm" w="sm" type="none"/>
          </a:ln>
        </p:spPr>
      </p:cxnSp>
      <p:pic>
        <p:nvPicPr>
          <p:cNvPr descr="Análisis de suelo: conoce qué es y cómo se hace" id="126" name="Google Shape;126;p5"/>
          <p:cNvPicPr preferRelativeResize="0"/>
          <p:nvPr/>
        </p:nvPicPr>
        <p:blipFill rotWithShape="1">
          <a:blip r:embed="rId4">
            <a:alphaModFix/>
          </a:blip>
          <a:srcRect b="0" l="0" r="0" t="0"/>
          <a:stretch/>
        </p:blipFill>
        <p:spPr>
          <a:xfrm>
            <a:off x="6854958" y="1461335"/>
            <a:ext cx="3677402" cy="3092020"/>
          </a:xfrm>
          <a:prstGeom prst="snip2DiagRect">
            <a:avLst>
              <a:gd fmla="val 0" name="adj1"/>
              <a:gd fmla="val 16667" name="adj2"/>
            </a:avLst>
          </a:prstGeom>
          <a:solidFill>
            <a:srgbClr val="ECECEC"/>
          </a:solidFill>
          <a:ln cap="sq" cmpd="sng" w="88900">
            <a:solidFill>
              <a:srgbClr val="FFFFFF"/>
            </a:solidFill>
            <a:prstDash val="solid"/>
            <a:miter lim="800000"/>
            <a:headEnd len="sm" w="sm" type="none"/>
            <a:tailEnd len="sm" w="sm" type="none"/>
          </a:ln>
          <a:effectLst>
            <a:outerShdw blurRad="88900" rotWithShape="0" algn="tl">
              <a:srgbClr val="000000">
                <a:alpha val="45098"/>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 name="Shape 130"/>
        <p:cNvGrpSpPr/>
        <p:nvPr/>
      </p:nvGrpSpPr>
      <p:grpSpPr>
        <a:xfrm>
          <a:off x="0" y="0"/>
          <a:ext cx="0" cy="0"/>
          <a:chOff x="0" y="0"/>
          <a:chExt cx="0" cy="0"/>
        </a:xfrm>
      </p:grpSpPr>
      <p:sp>
        <p:nvSpPr>
          <p:cNvPr id="131" name="Google Shape;131;p6"/>
          <p:cNvSpPr txBox="1"/>
          <p:nvPr/>
        </p:nvSpPr>
        <p:spPr>
          <a:xfrm>
            <a:off x="790204" y="574708"/>
            <a:ext cx="4712238" cy="67659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600"/>
              <a:buFont typeface="Work Sans"/>
              <a:buNone/>
            </a:pPr>
            <a:r>
              <a:rPr b="1" lang="es-CO" sz="3600">
                <a:solidFill>
                  <a:srgbClr val="38AA00"/>
                </a:solidFill>
                <a:latin typeface="Work Sans"/>
                <a:ea typeface="Work Sans"/>
                <a:cs typeface="Work Sans"/>
                <a:sym typeface="Work Sans"/>
              </a:rPr>
              <a:t>Funciones / Módulos</a:t>
            </a:r>
            <a:endParaRPr/>
          </a:p>
        </p:txBody>
      </p:sp>
      <p:sp>
        <p:nvSpPr>
          <p:cNvPr id="132" name="Google Shape;132;p6"/>
          <p:cNvSpPr txBox="1"/>
          <p:nvPr/>
        </p:nvSpPr>
        <p:spPr>
          <a:xfrm>
            <a:off x="790204" y="1813391"/>
            <a:ext cx="4618558" cy="3139321"/>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Calibri"/>
              <a:buAutoNum type="arabicPeriod"/>
            </a:pPr>
            <a:r>
              <a:rPr lang="es-CO" sz="1800">
                <a:solidFill>
                  <a:schemeClr val="dk1"/>
                </a:solidFill>
                <a:latin typeface="Calibri"/>
                <a:ea typeface="Calibri"/>
                <a:cs typeface="Calibri"/>
                <a:sym typeface="Calibri"/>
              </a:rPr>
              <a:t>Usuarios</a:t>
            </a:r>
            <a:endParaRPr/>
          </a:p>
          <a:p>
            <a:pPr indent="-342900" lvl="0" marL="342900" marR="0" rtl="0" algn="l">
              <a:spcBef>
                <a:spcPts val="0"/>
              </a:spcBef>
              <a:spcAft>
                <a:spcPts val="0"/>
              </a:spcAft>
              <a:buClr>
                <a:schemeClr val="dk1"/>
              </a:buClr>
              <a:buSzPts val="1800"/>
              <a:buFont typeface="Calibri"/>
              <a:buAutoNum type="arabicPeriod"/>
            </a:pPr>
            <a:r>
              <a:rPr lang="es-CO" sz="1800">
                <a:solidFill>
                  <a:schemeClr val="dk1"/>
                </a:solidFill>
                <a:latin typeface="Calibri"/>
                <a:ea typeface="Calibri"/>
                <a:cs typeface="Calibri"/>
                <a:sym typeface="Calibri"/>
              </a:rPr>
              <a:t>Comunicación y Conectividad</a:t>
            </a:r>
            <a:endParaRPr/>
          </a:p>
          <a:p>
            <a:pPr indent="-342900" lvl="0" marL="342900" marR="0" rtl="0" algn="l">
              <a:spcBef>
                <a:spcPts val="0"/>
              </a:spcBef>
              <a:spcAft>
                <a:spcPts val="0"/>
              </a:spcAft>
              <a:buClr>
                <a:schemeClr val="dk1"/>
              </a:buClr>
              <a:buSzPts val="1800"/>
              <a:buFont typeface="Calibri"/>
              <a:buAutoNum type="arabicPeriod"/>
            </a:pPr>
            <a:r>
              <a:rPr lang="es-CO" sz="1800">
                <a:solidFill>
                  <a:schemeClr val="dk1"/>
                </a:solidFill>
                <a:latin typeface="Calibri"/>
                <a:ea typeface="Calibri"/>
                <a:cs typeface="Calibri"/>
                <a:sym typeface="Calibri"/>
              </a:rPr>
              <a:t>Calibración del Sensor</a:t>
            </a:r>
            <a:endParaRPr/>
          </a:p>
          <a:p>
            <a:pPr indent="-342900" lvl="0" marL="342900" marR="0" rtl="0" algn="l">
              <a:spcBef>
                <a:spcPts val="0"/>
              </a:spcBef>
              <a:spcAft>
                <a:spcPts val="0"/>
              </a:spcAft>
              <a:buClr>
                <a:schemeClr val="dk1"/>
              </a:buClr>
              <a:buSzPts val="1800"/>
              <a:buFont typeface="Calibri"/>
              <a:buAutoNum type="arabicPeriod"/>
            </a:pPr>
            <a:r>
              <a:rPr lang="es-CO" sz="1800">
                <a:solidFill>
                  <a:schemeClr val="dk1"/>
                </a:solidFill>
                <a:latin typeface="Calibri"/>
                <a:ea typeface="Calibri"/>
                <a:cs typeface="Calibri"/>
                <a:sym typeface="Calibri"/>
              </a:rPr>
              <a:t>Captura y Gestión de Datos del Suelo</a:t>
            </a:r>
            <a:endParaRPr/>
          </a:p>
          <a:p>
            <a:pPr indent="-342900" lvl="0" marL="342900" marR="0" rtl="0" algn="l">
              <a:spcBef>
                <a:spcPts val="0"/>
              </a:spcBef>
              <a:spcAft>
                <a:spcPts val="0"/>
              </a:spcAft>
              <a:buClr>
                <a:schemeClr val="dk1"/>
              </a:buClr>
              <a:buSzPts val="1800"/>
              <a:buFont typeface="Calibri"/>
              <a:buAutoNum type="arabicPeriod"/>
            </a:pPr>
            <a:r>
              <a:rPr lang="es-CO" sz="1800">
                <a:solidFill>
                  <a:schemeClr val="dk1"/>
                </a:solidFill>
                <a:latin typeface="Calibri"/>
                <a:ea typeface="Calibri"/>
                <a:cs typeface="Calibri"/>
                <a:sym typeface="Calibri"/>
              </a:rPr>
              <a:t>Análisis</a:t>
            </a:r>
            <a:endParaRPr/>
          </a:p>
          <a:p>
            <a:pPr indent="-342900" lvl="0" marL="342900" marR="0" rtl="0" algn="l">
              <a:spcBef>
                <a:spcPts val="0"/>
              </a:spcBef>
              <a:spcAft>
                <a:spcPts val="0"/>
              </a:spcAft>
              <a:buClr>
                <a:schemeClr val="dk1"/>
              </a:buClr>
              <a:buSzPts val="1800"/>
              <a:buFont typeface="Calibri"/>
              <a:buAutoNum type="arabicPeriod"/>
            </a:pPr>
            <a:r>
              <a:rPr lang="es-CO" sz="1800">
                <a:solidFill>
                  <a:schemeClr val="dk1"/>
                </a:solidFill>
                <a:latin typeface="Calibri"/>
                <a:ea typeface="Calibri"/>
                <a:cs typeface="Calibri"/>
                <a:sym typeface="Calibri"/>
              </a:rPr>
              <a:t>Información</a:t>
            </a:r>
            <a:endParaRPr/>
          </a:p>
          <a:p>
            <a:pPr indent="-342900" lvl="0" marL="342900" marR="0" rtl="0" algn="l">
              <a:spcBef>
                <a:spcPts val="0"/>
              </a:spcBef>
              <a:spcAft>
                <a:spcPts val="0"/>
              </a:spcAft>
              <a:buClr>
                <a:schemeClr val="dk1"/>
              </a:buClr>
              <a:buSzPts val="1800"/>
              <a:buFont typeface="Calibri"/>
              <a:buAutoNum type="arabicPeriod"/>
            </a:pPr>
            <a:r>
              <a:rPr lang="es-CO" sz="1800">
                <a:solidFill>
                  <a:schemeClr val="dk1"/>
                </a:solidFill>
                <a:latin typeface="Calibri"/>
                <a:ea typeface="Calibri"/>
                <a:cs typeface="Calibri"/>
                <a:sym typeface="Calibri"/>
              </a:rPr>
              <a:t>Recomendaciones</a:t>
            </a:r>
            <a:endParaRPr/>
          </a:p>
          <a:p>
            <a:pPr indent="-342900" lvl="0" marL="342900" marR="0" rtl="0" algn="l">
              <a:spcBef>
                <a:spcPts val="0"/>
              </a:spcBef>
              <a:spcAft>
                <a:spcPts val="0"/>
              </a:spcAft>
              <a:buClr>
                <a:schemeClr val="dk1"/>
              </a:buClr>
              <a:buSzPts val="1800"/>
              <a:buFont typeface="Calibri"/>
              <a:buAutoNum type="arabicPeriod"/>
            </a:pPr>
            <a:r>
              <a:rPr lang="es-CO" sz="1800">
                <a:solidFill>
                  <a:schemeClr val="dk1"/>
                </a:solidFill>
                <a:latin typeface="Calibri"/>
                <a:ea typeface="Calibri"/>
                <a:cs typeface="Calibri"/>
                <a:sym typeface="Calibri"/>
              </a:rPr>
              <a:t>Reportes</a:t>
            </a:r>
            <a:endParaRPr/>
          </a:p>
          <a:p>
            <a:pPr indent="-342900" lvl="0" marL="342900" marR="0" rtl="0" algn="l">
              <a:spcBef>
                <a:spcPts val="0"/>
              </a:spcBef>
              <a:spcAft>
                <a:spcPts val="0"/>
              </a:spcAft>
              <a:buClr>
                <a:schemeClr val="dk1"/>
              </a:buClr>
              <a:buSzPts val="1800"/>
              <a:buFont typeface="Calibri"/>
              <a:buAutoNum type="arabicPeriod"/>
            </a:pPr>
            <a:r>
              <a:rPr lang="es-CO" sz="1800">
                <a:solidFill>
                  <a:schemeClr val="dk1"/>
                </a:solidFill>
                <a:latin typeface="Calibri"/>
                <a:ea typeface="Calibri"/>
                <a:cs typeface="Calibri"/>
                <a:sym typeface="Calibri"/>
              </a:rPr>
              <a:t>Diagnóstico del Hardware</a:t>
            </a:r>
            <a:endParaRPr/>
          </a:p>
          <a:p>
            <a:pPr indent="-342900" lvl="0" marL="342900" marR="0" rtl="0" algn="l">
              <a:spcBef>
                <a:spcPts val="0"/>
              </a:spcBef>
              <a:spcAft>
                <a:spcPts val="0"/>
              </a:spcAft>
              <a:buClr>
                <a:schemeClr val="dk1"/>
              </a:buClr>
              <a:buSzPts val="1800"/>
              <a:buFont typeface="Calibri"/>
              <a:buAutoNum type="arabicPeriod"/>
            </a:pPr>
            <a:r>
              <a:rPr lang="es-CO" sz="1800">
                <a:solidFill>
                  <a:schemeClr val="dk1"/>
                </a:solidFill>
                <a:latin typeface="Calibri"/>
                <a:ea typeface="Calibri"/>
                <a:cs typeface="Calibri"/>
                <a:sym typeface="Calibri"/>
              </a:rPr>
              <a:t>Modo Offline</a:t>
            </a:r>
            <a:endParaRPr/>
          </a:p>
          <a:p>
            <a:pPr indent="-342900" lvl="0" marL="342900" marR="0" rtl="0" algn="l">
              <a:spcBef>
                <a:spcPts val="0"/>
              </a:spcBef>
              <a:spcAft>
                <a:spcPts val="0"/>
              </a:spcAft>
              <a:buClr>
                <a:schemeClr val="dk1"/>
              </a:buClr>
              <a:buSzPts val="1800"/>
              <a:buFont typeface="Calibri"/>
              <a:buAutoNum type="arabicPeriod"/>
            </a:pPr>
            <a:r>
              <a:rPr lang="es-CO" sz="1800">
                <a:solidFill>
                  <a:schemeClr val="dk1"/>
                </a:solidFill>
                <a:latin typeface="Calibri"/>
                <a:ea typeface="Calibri"/>
                <a:cs typeface="Calibri"/>
                <a:sym typeface="Calibri"/>
              </a:rPr>
              <a:t>Administración y Configuración</a:t>
            </a:r>
            <a:endParaRPr sz="1600">
              <a:solidFill>
                <a:schemeClr val="dk1"/>
              </a:solidFill>
              <a:latin typeface="Work Sans Light"/>
              <a:ea typeface="Work Sans Light"/>
              <a:cs typeface="Work Sans Light"/>
              <a:sym typeface="Work Sans Light"/>
            </a:endParaRPr>
          </a:p>
        </p:txBody>
      </p:sp>
      <p:cxnSp>
        <p:nvCxnSpPr>
          <p:cNvPr id="133" name="Google Shape;133;p6"/>
          <p:cNvCxnSpPr/>
          <p:nvPr/>
        </p:nvCxnSpPr>
        <p:spPr>
          <a:xfrm>
            <a:off x="790202" y="1629668"/>
            <a:ext cx="3954000" cy="0"/>
          </a:xfrm>
          <a:prstGeom prst="straightConnector1">
            <a:avLst/>
          </a:prstGeom>
          <a:noFill/>
          <a:ln cap="flat" cmpd="sng" w="12700">
            <a:solidFill>
              <a:srgbClr val="4D4D4C"/>
            </a:solidFill>
            <a:prstDash val="solid"/>
            <a:miter lim="800000"/>
            <a:headEnd len="sm" w="sm" type="none"/>
            <a:tailEnd len="sm" w="sm" type="none"/>
          </a:ln>
        </p:spPr>
      </p:cxnSp>
      <p:pic>
        <p:nvPicPr>
          <p:cNvPr descr="Kit Agro | Kit de análisis de suelo para agricultura de precisión" id="134" name="Google Shape;134;p6"/>
          <p:cNvPicPr preferRelativeResize="0"/>
          <p:nvPr/>
        </p:nvPicPr>
        <p:blipFill rotWithShape="1">
          <a:blip r:embed="rId4">
            <a:alphaModFix/>
          </a:blip>
          <a:srcRect b="0" l="0" r="0" t="0"/>
          <a:stretch/>
        </p:blipFill>
        <p:spPr>
          <a:xfrm>
            <a:off x="6783240" y="2076826"/>
            <a:ext cx="4063909" cy="2704347"/>
          </a:xfrm>
          <a:prstGeom prst="snip2DiagRect">
            <a:avLst>
              <a:gd fmla="val 0" name="adj1"/>
              <a:gd fmla="val 16667" name="adj2"/>
            </a:avLst>
          </a:prstGeom>
          <a:solidFill>
            <a:srgbClr val="ECECEC"/>
          </a:solidFill>
          <a:ln cap="sq" cmpd="sng" w="88900">
            <a:solidFill>
              <a:srgbClr val="FFFFFF"/>
            </a:solidFill>
            <a:prstDash val="solid"/>
            <a:miter lim="800000"/>
            <a:headEnd len="sm" w="sm" type="none"/>
            <a:tailEnd len="sm" w="sm" type="none"/>
          </a:ln>
          <a:effectLst>
            <a:outerShdw blurRad="88900" rotWithShape="0" algn="tl">
              <a:srgbClr val="000000">
                <a:alpha val="45098"/>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8" name="Shape 13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2020-10-01T23:51:28Z</dcterms:created>
  <dc:creator>Jorge Enrique Pedraza Sanchez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c111285-cafa-4fc9-8a9a-bd902089b24f_Enabled">
    <vt:lpwstr>true</vt:lpwstr>
  </property>
  <property fmtid="{D5CDD505-2E9C-101B-9397-08002B2CF9AE}" pid="3" name="MSIP_Label_fc111285-cafa-4fc9-8a9a-bd902089b24f_SetDate">
    <vt:lpwstr>2025-08-19T13:38:48Z</vt:lpwstr>
  </property>
  <property fmtid="{D5CDD505-2E9C-101B-9397-08002B2CF9AE}" pid="4" name="MSIP_Label_fc111285-cafa-4fc9-8a9a-bd902089b24f_Method">
    <vt:lpwstr>Privileged</vt:lpwstr>
  </property>
  <property fmtid="{D5CDD505-2E9C-101B-9397-08002B2CF9AE}" pid="5" name="MSIP_Label_fc111285-cafa-4fc9-8a9a-bd902089b24f_Name">
    <vt:lpwstr>Public</vt:lpwstr>
  </property>
  <property fmtid="{D5CDD505-2E9C-101B-9397-08002B2CF9AE}" pid="6" name="MSIP_Label_fc111285-cafa-4fc9-8a9a-bd902089b24f_SiteId">
    <vt:lpwstr>cbc2c381-2f2e-4d93-91d1-506c9316ace7</vt:lpwstr>
  </property>
  <property fmtid="{D5CDD505-2E9C-101B-9397-08002B2CF9AE}" pid="7" name="MSIP_Label_fc111285-cafa-4fc9-8a9a-bd902089b24f_ActionId">
    <vt:lpwstr>cfd48e25-0478-49e4-a006-c95e5a813f4c</vt:lpwstr>
  </property>
  <property fmtid="{D5CDD505-2E9C-101B-9397-08002B2CF9AE}" pid="8" name="MSIP_Label_fc111285-cafa-4fc9-8a9a-bd902089b24f_ContentBits">
    <vt:lpwstr>0</vt:lpwstr>
  </property>
  <property fmtid="{D5CDD505-2E9C-101B-9397-08002B2CF9AE}" pid="9" name="MSIP_Label_fc111285-cafa-4fc9-8a9a-bd902089b24f_Tag">
    <vt:lpwstr>10, 0, 1, 1</vt:lpwstr>
  </property>
</Properties>
</file>